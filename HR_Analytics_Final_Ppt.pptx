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60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743200"/>
            <a:ext cx="12437316" cy="3354765"/>
          </a:xfrm>
          <a:prstGeom prst="rect">
            <a:avLst/>
          </a:prstGeom>
          <a:noFill/>
        </p:spPr>
        <p:txBody>
          <a:bodyPr wrap="none">
            <a:spAutoFit/>
          </a:bodyPr>
          <a:lstStyle/>
          <a:p>
            <a:pPr>
              <a:defRPr sz="11000" b="1">
                <a:solidFill>
                  <a:srgbClr val="00FFFF"/>
                </a:solidFill>
              </a:defRPr>
            </a:pPr>
            <a:r>
              <a:rPr dirty="0"/>
              <a:t>HR ANALYTICS</a:t>
            </a:r>
          </a:p>
          <a:p>
            <a:pPr>
              <a:defRPr sz="7200" b="1">
                <a:solidFill>
                  <a:srgbClr val="FFFFFF"/>
                </a:solidFill>
              </a:defRPr>
            </a:pPr>
            <a:r>
              <a:rPr dirty="0"/>
              <a:t>EMPLOYEE ATTRITION ANALYSIS</a:t>
            </a:r>
          </a:p>
          <a:p>
            <a:pPr>
              <a:defRPr sz="3000">
                <a:solidFill>
                  <a:srgbClr val="C8CDD7"/>
                </a:solidFill>
              </a:defRPr>
            </a:pPr>
            <a:r>
              <a:rPr dirty="0"/>
              <a:t>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TEAM MEMBERS</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12801600" cy="5486400"/>
          </a:xfrm>
          <a:prstGeom prst="rect">
            <a:avLst/>
          </a:prstGeom>
          <a:noFill/>
        </p:spPr>
        <p:txBody>
          <a:bodyPr wrap="square">
            <a:spAutoFit/>
          </a:bodyPr>
          <a:lstStyle/>
          <a:p>
            <a:endParaRPr/>
          </a:p>
          <a:p>
            <a:pPr>
              <a:spcBef>
                <a:spcPts val="2000"/>
              </a:spcBef>
              <a:defRPr sz="3000">
                <a:solidFill>
                  <a:srgbClr val="C8CDD7"/>
                </a:solidFill>
                <a:latin typeface="Segoe UI Semilight"/>
              </a:defRPr>
            </a:pPr>
            <a:r>
              <a:t>➤  Mudavath Rasagnya Nayak</a:t>
            </a:r>
          </a:p>
          <a:p>
            <a:pPr>
              <a:spcBef>
                <a:spcPts val="2000"/>
              </a:spcBef>
              <a:defRPr sz="3000">
                <a:solidFill>
                  <a:srgbClr val="C8CDD7"/>
                </a:solidFill>
                <a:latin typeface="Segoe UI Semilight"/>
              </a:defRPr>
            </a:pPr>
            <a:r>
              <a:t>➤  Kalyani Rajesh Yamunabade</a:t>
            </a:r>
          </a:p>
          <a:p>
            <a:pPr>
              <a:spcBef>
                <a:spcPts val="2000"/>
              </a:spcBef>
              <a:defRPr sz="3000">
                <a:solidFill>
                  <a:srgbClr val="C8CDD7"/>
                </a:solidFill>
                <a:latin typeface="Segoe UI Semilight"/>
              </a:defRPr>
            </a:pPr>
            <a:r>
              <a:t>➤  Nisha Suresh Manuskare</a:t>
            </a:r>
          </a:p>
          <a:p>
            <a:pPr>
              <a:spcBef>
                <a:spcPts val="2000"/>
              </a:spcBef>
              <a:defRPr sz="3000">
                <a:solidFill>
                  <a:srgbClr val="C8CDD7"/>
                </a:solidFill>
                <a:latin typeface="Segoe UI Semilight"/>
              </a:defRPr>
            </a:pPr>
            <a:r>
              <a:t>➤  Shweta Bharat Patil</a:t>
            </a:r>
          </a:p>
          <a:p>
            <a:pPr>
              <a:spcBef>
                <a:spcPts val="2000"/>
              </a:spcBef>
              <a:defRPr sz="3000">
                <a:solidFill>
                  <a:srgbClr val="C8CDD7"/>
                </a:solidFill>
                <a:latin typeface="Segoe UI Semilight"/>
              </a:defRPr>
            </a:pPr>
            <a:r>
              <a:t>➤  Pragallapati Venkata Manindra Guptha</a:t>
            </a:r>
          </a:p>
          <a:p>
            <a:pPr>
              <a:spcBef>
                <a:spcPts val="2000"/>
              </a:spcBef>
              <a:defRPr sz="3000">
                <a:solidFill>
                  <a:srgbClr val="C8CDD7"/>
                </a:solidFill>
                <a:latin typeface="Segoe UI Semilight"/>
              </a:defRPr>
            </a:pPr>
            <a:r>
              <a:t>➤  Venkat Sai Kishan Parida</a:t>
            </a:r>
          </a:p>
          <a:p>
            <a:pPr>
              <a:spcBef>
                <a:spcPts val="2000"/>
              </a:spcBef>
              <a:defRPr sz="3000">
                <a:solidFill>
                  <a:srgbClr val="C8CDD7"/>
                </a:solidFill>
                <a:latin typeface="Segoe UI Semilight"/>
              </a:defRPr>
            </a:pPr>
            <a:r>
              <a:t>➤  VEMURU VINAY KUMAR REDDY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CONTENTS</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88571"/>
            <a:ext cx="9098280" cy="6832640"/>
          </a:xfrm>
          <a:prstGeom prst="rect">
            <a:avLst/>
          </a:prstGeom>
          <a:noFill/>
        </p:spPr>
        <p:txBody>
          <a:bodyPr wrap="square">
            <a:spAutoFit/>
          </a:bodyPr>
          <a:lstStyle/>
          <a:p>
            <a:endParaRPr dirty="0"/>
          </a:p>
          <a:p>
            <a:pPr>
              <a:spcBef>
                <a:spcPts val="2000"/>
              </a:spcBef>
              <a:defRPr sz="3000">
                <a:solidFill>
                  <a:srgbClr val="C8CDD7"/>
                </a:solidFill>
                <a:latin typeface="Segoe UI Semilight"/>
              </a:defRPr>
            </a:pPr>
            <a:r>
              <a:rPr dirty="0"/>
              <a:t>➤  Objective</a:t>
            </a:r>
          </a:p>
          <a:p>
            <a:pPr>
              <a:spcBef>
                <a:spcPts val="2000"/>
              </a:spcBef>
              <a:defRPr sz="3000">
                <a:solidFill>
                  <a:srgbClr val="C8CDD7"/>
                </a:solidFill>
                <a:latin typeface="Segoe UI Semilight"/>
              </a:defRPr>
            </a:pPr>
            <a:r>
              <a:rPr dirty="0"/>
              <a:t>➤  Introduction</a:t>
            </a:r>
          </a:p>
          <a:p>
            <a:pPr>
              <a:spcBef>
                <a:spcPts val="2000"/>
              </a:spcBef>
              <a:defRPr sz="3000">
                <a:solidFill>
                  <a:srgbClr val="C8CDD7"/>
                </a:solidFill>
                <a:latin typeface="Segoe UI Semilight"/>
              </a:defRPr>
            </a:pPr>
            <a:r>
              <a:rPr dirty="0"/>
              <a:t>➤  Business Overview</a:t>
            </a:r>
          </a:p>
          <a:p>
            <a:pPr>
              <a:spcBef>
                <a:spcPts val="2000"/>
              </a:spcBef>
              <a:defRPr sz="3000">
                <a:solidFill>
                  <a:srgbClr val="C8CDD7"/>
                </a:solidFill>
                <a:latin typeface="Segoe UI Semilight"/>
              </a:defRPr>
            </a:pPr>
            <a:r>
              <a:rPr dirty="0"/>
              <a:t>➤  Project Scope</a:t>
            </a:r>
          </a:p>
          <a:p>
            <a:pPr>
              <a:spcBef>
                <a:spcPts val="2000"/>
              </a:spcBef>
              <a:defRPr sz="3000">
                <a:solidFill>
                  <a:srgbClr val="C8CDD7"/>
                </a:solidFill>
                <a:latin typeface="Segoe UI Semilight"/>
              </a:defRPr>
            </a:pPr>
            <a:r>
              <a:rPr dirty="0"/>
              <a:t>➤  Data Model Challenges</a:t>
            </a:r>
          </a:p>
          <a:p>
            <a:pPr>
              <a:spcBef>
                <a:spcPts val="2000"/>
              </a:spcBef>
              <a:defRPr sz="3000">
                <a:solidFill>
                  <a:srgbClr val="C8CDD7"/>
                </a:solidFill>
                <a:latin typeface="Segoe UI Semilight"/>
              </a:defRPr>
            </a:pPr>
            <a:r>
              <a:rPr dirty="0"/>
              <a:t>➤  Dashboard Summary</a:t>
            </a:r>
          </a:p>
          <a:p>
            <a:pPr>
              <a:spcBef>
                <a:spcPts val="2000"/>
              </a:spcBef>
              <a:defRPr sz="3000">
                <a:solidFill>
                  <a:srgbClr val="C8CDD7"/>
                </a:solidFill>
                <a:latin typeface="Segoe UI Semilight"/>
              </a:defRPr>
            </a:pPr>
            <a:r>
              <a:rPr dirty="0"/>
              <a:t>➤  KPI Detailed Explanation</a:t>
            </a:r>
          </a:p>
          <a:p>
            <a:pPr>
              <a:spcBef>
                <a:spcPts val="2000"/>
              </a:spcBef>
              <a:defRPr sz="3000">
                <a:solidFill>
                  <a:srgbClr val="C8CDD7"/>
                </a:solidFill>
                <a:latin typeface="Segoe UI Semilight"/>
              </a:defRPr>
            </a:pPr>
            <a:r>
              <a:rPr dirty="0"/>
              <a:t>➤  Recommendations</a:t>
            </a:r>
          </a:p>
          <a:p>
            <a:pPr>
              <a:spcBef>
                <a:spcPts val="2000"/>
              </a:spcBef>
              <a:defRPr sz="3000">
                <a:solidFill>
                  <a:srgbClr val="C8CDD7"/>
                </a:solidFill>
                <a:latin typeface="Segoe UI Semilight"/>
              </a:defRPr>
            </a:pPr>
            <a:r>
              <a:rPr dirty="0"/>
              <a:t>➤  Conclusion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OBJECTIVE</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286000"/>
            <a:ext cx="12801600" cy="5486400"/>
          </a:xfrm>
          <a:prstGeom prst="rect">
            <a:avLst/>
          </a:prstGeom>
          <a:noFill/>
        </p:spPr>
        <p:txBody>
          <a:bodyPr wrap="square">
            <a:spAutoFit/>
          </a:bodyPr>
          <a:lstStyle/>
          <a:p>
            <a:endParaRPr/>
          </a:p>
          <a:p>
            <a:pPr>
              <a:spcBef>
                <a:spcPts val="2000"/>
              </a:spcBef>
              <a:defRPr sz="3200">
                <a:solidFill>
                  <a:srgbClr val="C8CDD7"/>
                </a:solidFill>
                <a:latin typeface="Segoe UI Semilight"/>
              </a:defRPr>
            </a:pPr>
            <a:r>
              <a:t>➤  Analyze HR employee demographic and tenure data points.</a:t>
            </a:r>
          </a:p>
          <a:p>
            <a:pPr>
              <a:spcBef>
                <a:spcPts val="2000"/>
              </a:spcBef>
              <a:defRPr sz="3200">
                <a:solidFill>
                  <a:srgbClr val="C8CDD7"/>
                </a:solidFill>
                <a:latin typeface="Segoe UI Semilight"/>
              </a:defRPr>
            </a:pPr>
            <a:r>
              <a:t>➤  Identify key behavioral and financial drivers of attrition.</a:t>
            </a:r>
          </a:p>
          <a:p>
            <a:pPr>
              <a:spcBef>
                <a:spcPts val="2000"/>
              </a:spcBef>
              <a:defRPr sz="3200">
                <a:solidFill>
                  <a:srgbClr val="C8CDD7"/>
                </a:solidFill>
                <a:latin typeface="Segoe UI Semilight"/>
              </a:defRPr>
            </a:pPr>
            <a:r>
              <a:t>➤  Correlate income vs. role satisfaction across the organization.</a:t>
            </a:r>
          </a:p>
          <a:p>
            <a:pPr>
              <a:spcBef>
                <a:spcPts val="2000"/>
              </a:spcBef>
              <a:defRPr sz="3200">
                <a:solidFill>
                  <a:srgbClr val="C8CDD7"/>
                </a:solidFill>
                <a:latin typeface="Segoe UI Semilight"/>
              </a:defRPr>
            </a:pPr>
            <a:r>
              <a:t>➤  Measure work-life balance effectiveness in high-demand roles.</a:t>
            </a:r>
          </a:p>
          <a:p>
            <a:pPr>
              <a:spcBef>
                <a:spcPts val="2000"/>
              </a:spcBef>
              <a:defRPr sz="3200">
                <a:solidFill>
                  <a:srgbClr val="C8CDD7"/>
                </a:solidFill>
                <a:latin typeface="Segoe UI Semilight"/>
              </a:defRPr>
            </a:pPr>
            <a:r>
              <a:t>➤  Provide executive-ready recommendations for workforce retention.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INTRODUCTION</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286000"/>
            <a:ext cx="12801600" cy="5486400"/>
          </a:xfrm>
          <a:prstGeom prst="rect">
            <a:avLst/>
          </a:prstGeom>
          <a:noFill/>
        </p:spPr>
        <p:txBody>
          <a:bodyPr wrap="square">
            <a:spAutoFit/>
          </a:bodyPr>
          <a:lstStyle/>
          <a:p>
            <a:endParaRPr/>
          </a:p>
          <a:p>
            <a:pPr>
              <a:spcBef>
                <a:spcPts val="2000"/>
              </a:spcBef>
              <a:defRPr sz="3200">
                <a:solidFill>
                  <a:srgbClr val="C8CDD7"/>
                </a:solidFill>
                <a:latin typeface="Segoe UI Semilight"/>
              </a:defRPr>
            </a:pPr>
            <a:r>
              <a:t>➤  HR Analytics uses data to drive human capital strategies.</a:t>
            </a:r>
          </a:p>
          <a:p>
            <a:pPr>
              <a:spcBef>
                <a:spcPts val="2000"/>
              </a:spcBef>
              <a:defRPr sz="3200">
                <a:solidFill>
                  <a:srgbClr val="C8CDD7"/>
                </a:solidFill>
                <a:latin typeface="Segoe UI Semilight"/>
              </a:defRPr>
            </a:pPr>
            <a:r>
              <a:t>➤  Reducing attrition is critical for maintaining project knowledge and reducing costs.</a:t>
            </a:r>
          </a:p>
          <a:p>
            <a:pPr>
              <a:spcBef>
                <a:spcPts val="2000"/>
              </a:spcBef>
              <a:defRPr sz="3200">
                <a:solidFill>
                  <a:srgbClr val="C8CDD7"/>
                </a:solidFill>
                <a:latin typeface="Segoe UI Semilight"/>
              </a:defRPr>
            </a:pPr>
            <a:r>
              <a:t>➤  Analysis covers 50,000+ records with 30+ distinct employee variables.</a:t>
            </a:r>
          </a:p>
          <a:p>
            <a:pPr>
              <a:spcBef>
                <a:spcPts val="2000"/>
              </a:spcBef>
              <a:defRPr sz="3200">
                <a:solidFill>
                  <a:srgbClr val="C8CDD7"/>
                </a:solidFill>
                <a:latin typeface="Segoe UI Semilight"/>
              </a:defRPr>
            </a:pPr>
            <a:r>
              <a:t>➤  Integrated approach using SQL (MySQL), Excel, and BI (Tableau/Power BI).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BUSINESS OVERVIEW</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286000"/>
            <a:ext cx="12801600" cy="5486400"/>
          </a:xfrm>
          <a:prstGeom prst="rect">
            <a:avLst/>
          </a:prstGeom>
          <a:noFill/>
        </p:spPr>
        <p:txBody>
          <a:bodyPr wrap="square">
            <a:spAutoFit/>
          </a:bodyPr>
          <a:lstStyle/>
          <a:p>
            <a:endParaRPr/>
          </a:p>
          <a:p>
            <a:pPr>
              <a:spcBef>
                <a:spcPts val="2000"/>
              </a:spcBef>
              <a:defRPr sz="3200">
                <a:solidFill>
                  <a:srgbClr val="C8CDD7"/>
                </a:solidFill>
                <a:latin typeface="Segoe UI Semilight"/>
              </a:defRPr>
            </a:pPr>
            <a:r>
              <a:t>➤  Workforce retention directly impacts the bottom line.</a:t>
            </a:r>
          </a:p>
          <a:p>
            <a:pPr>
              <a:spcBef>
                <a:spcPts val="2000"/>
              </a:spcBef>
              <a:defRPr sz="3200">
                <a:solidFill>
                  <a:srgbClr val="C8CDD7"/>
                </a:solidFill>
                <a:latin typeface="Segoe UI Semilight"/>
              </a:defRPr>
            </a:pPr>
            <a:r>
              <a:t>➤  Employee loyalty involves a balance of Pay, Growth, and Life-Balance.</a:t>
            </a:r>
          </a:p>
          <a:p>
            <a:pPr>
              <a:spcBef>
                <a:spcPts val="2000"/>
              </a:spcBef>
              <a:defRPr sz="3200">
                <a:solidFill>
                  <a:srgbClr val="C8CDD7"/>
                </a:solidFill>
                <a:latin typeface="Segoe UI Semilight"/>
              </a:defRPr>
            </a:pPr>
            <a:r>
              <a:t>➤  Certain high-skill roles (Research, Sales) require localized retention models.</a:t>
            </a:r>
          </a:p>
          <a:p>
            <a:pPr>
              <a:spcBef>
                <a:spcPts val="2000"/>
              </a:spcBef>
              <a:defRPr sz="3200">
                <a:solidFill>
                  <a:srgbClr val="C8CDD7"/>
                </a:solidFill>
                <a:latin typeface="Segoe UI Semilight"/>
              </a:defRPr>
            </a:pPr>
            <a:r>
              <a:t>➤  Data-backed policies are essential for mid and long-term scaling.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PROJECT SCOPE</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286000"/>
            <a:ext cx="12801600" cy="5486400"/>
          </a:xfrm>
          <a:prstGeom prst="rect">
            <a:avLst/>
          </a:prstGeom>
          <a:noFill/>
        </p:spPr>
        <p:txBody>
          <a:bodyPr wrap="square">
            <a:spAutoFit/>
          </a:bodyPr>
          <a:lstStyle/>
          <a:p>
            <a:endParaRPr/>
          </a:p>
          <a:p>
            <a:pPr>
              <a:spcBef>
                <a:spcPts val="2000"/>
              </a:spcBef>
              <a:defRPr sz="3200">
                <a:solidFill>
                  <a:srgbClr val="C8CDD7"/>
                </a:solidFill>
                <a:latin typeface="Segoe UI Semilight"/>
              </a:defRPr>
            </a:pPr>
            <a:r>
              <a:t>➤  Integration of HR_1 (Demographics) and HR_2 (Tenure/Finance).</a:t>
            </a:r>
          </a:p>
          <a:p>
            <a:pPr>
              <a:spcBef>
                <a:spcPts val="2000"/>
              </a:spcBef>
              <a:defRPr sz="3200">
                <a:solidFill>
                  <a:srgbClr val="C8CDD7"/>
                </a:solidFill>
                <a:latin typeface="Segoe UI Semilight"/>
              </a:defRPr>
            </a:pPr>
            <a:r>
              <a:t>➤  Join operation resulted in 50,000 verified data matches.</a:t>
            </a:r>
          </a:p>
          <a:p>
            <a:pPr>
              <a:spcBef>
                <a:spcPts val="2000"/>
              </a:spcBef>
              <a:defRPr sz="3200">
                <a:solidFill>
                  <a:srgbClr val="C8CDD7"/>
                </a:solidFill>
                <a:latin typeface="Segoe UI Semilight"/>
              </a:defRPr>
            </a:pPr>
            <a:r>
              <a:t>➤  Development of 6 Strategic KPIs across 4 major analytical tools.</a:t>
            </a:r>
          </a:p>
          <a:p>
            <a:pPr>
              <a:spcBef>
                <a:spcPts val="2000"/>
              </a:spcBef>
              <a:defRPr sz="3200">
                <a:solidFill>
                  <a:srgbClr val="C8CDD7"/>
                </a:solidFill>
                <a:latin typeface="Segoe UI Semilight"/>
              </a:defRPr>
            </a:pPr>
            <a:r>
              <a:t>➤  Correlation mapping of tenure vs. promotional history.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DATA MODEL CHALLENGES</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286000"/>
            <a:ext cx="12801600" cy="5486400"/>
          </a:xfrm>
          <a:prstGeom prst="rect">
            <a:avLst/>
          </a:prstGeom>
          <a:noFill/>
        </p:spPr>
        <p:txBody>
          <a:bodyPr wrap="square">
            <a:spAutoFit/>
          </a:bodyPr>
          <a:lstStyle/>
          <a:p>
            <a:endParaRPr/>
          </a:p>
          <a:p>
            <a:pPr>
              <a:spcBef>
                <a:spcPts val="2000"/>
              </a:spcBef>
              <a:defRPr sz="3200">
                <a:solidFill>
                  <a:srgbClr val="C8CDD7"/>
                </a:solidFill>
                <a:latin typeface="Segoe UI Semilight"/>
              </a:defRPr>
            </a:pPr>
            <a:r>
              <a:t>➤  Managing large-scale data joins with varying primary key headers.</a:t>
            </a:r>
          </a:p>
          <a:p>
            <a:pPr>
              <a:spcBef>
                <a:spcPts val="2000"/>
              </a:spcBef>
              <a:defRPr sz="3200">
                <a:solidFill>
                  <a:srgbClr val="C8CDD7"/>
                </a:solidFill>
                <a:latin typeface="Segoe UI Semilight"/>
              </a:defRPr>
            </a:pPr>
            <a:r>
              <a:t>➤  Cleaning and imputing missing promotion and tenure values.</a:t>
            </a:r>
          </a:p>
          <a:p>
            <a:pPr>
              <a:spcBef>
                <a:spcPts val="2000"/>
              </a:spcBef>
              <a:defRPr sz="3200">
                <a:solidFill>
                  <a:srgbClr val="C8CDD7"/>
                </a:solidFill>
                <a:latin typeface="Segoe UI Semilight"/>
              </a:defRPr>
            </a:pPr>
            <a:r>
              <a:t>➤  Standardizing salary groups for equitable role comparison.</a:t>
            </a:r>
          </a:p>
          <a:p>
            <a:pPr>
              <a:spcBef>
                <a:spcPts val="2000"/>
              </a:spcBef>
              <a:defRPr sz="3200">
                <a:solidFill>
                  <a:srgbClr val="C8CDD7"/>
                </a:solidFill>
                <a:latin typeface="Segoe UI Semilight"/>
              </a:defRPr>
            </a:pPr>
            <a:r>
              <a:t>➤  Validating cross-tool consistency between SQL, Excel, and BI Dashboards.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05990" y="3200400"/>
            <a:ext cx="12018419" cy="1323439"/>
          </a:xfrm>
          <a:prstGeom prst="rect">
            <a:avLst/>
          </a:prstGeom>
          <a:noFill/>
        </p:spPr>
        <p:txBody>
          <a:bodyPr wrap="none">
            <a:spAutoFit/>
          </a:bodyPr>
          <a:lstStyle/>
          <a:p>
            <a:pPr algn="ctr">
              <a:defRPr sz="8000" b="1">
                <a:solidFill>
                  <a:srgbClr val="00FFFF"/>
                </a:solidFill>
              </a:defRPr>
            </a:pPr>
            <a:r>
              <a:rPr dirty="0"/>
              <a:t>DASHBOARD</a:t>
            </a:r>
            <a:r>
              <a:rPr lang="en-US" dirty="0"/>
              <a:t> &amp; SQL Queries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EXCEL DASHBOARD</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44A3B1B2-E904-2E7D-C81F-2179FFF9F189}"/>
              </a:ext>
            </a:extLst>
          </p:cNvPr>
          <p:cNvPicPr>
            <a:picLocks noChangeAspect="1"/>
          </p:cNvPicPr>
          <p:nvPr/>
        </p:nvPicPr>
        <p:blipFill>
          <a:blip r:embed="rId2"/>
          <a:stretch>
            <a:fillRect/>
          </a:stretch>
        </p:blipFill>
        <p:spPr>
          <a:xfrm>
            <a:off x="914400" y="1828800"/>
            <a:ext cx="12574755" cy="56110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TABLEAU DASHBOARD</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59048ADA-8659-CF4F-0BFF-F55CE495BE69}"/>
              </a:ext>
            </a:extLst>
          </p:cNvPr>
          <p:cNvPicPr>
            <a:picLocks noChangeAspect="1"/>
          </p:cNvPicPr>
          <p:nvPr/>
        </p:nvPicPr>
        <p:blipFill>
          <a:blip r:embed="rId2"/>
          <a:stretch>
            <a:fillRect/>
          </a:stretch>
        </p:blipFill>
        <p:spPr>
          <a:xfrm>
            <a:off x="731520" y="1828800"/>
            <a:ext cx="12311743" cy="56813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POWER BI DASHBOARD</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C51B123A-4A47-AEE7-9563-7B779B85A7FE}"/>
              </a:ext>
            </a:extLst>
          </p:cNvPr>
          <p:cNvPicPr>
            <a:picLocks noChangeAspect="1"/>
          </p:cNvPicPr>
          <p:nvPr/>
        </p:nvPicPr>
        <p:blipFill>
          <a:blip r:embed="rId2"/>
          <a:stretch>
            <a:fillRect/>
          </a:stretch>
        </p:blipFill>
        <p:spPr>
          <a:xfrm>
            <a:off x="914400" y="1695450"/>
            <a:ext cx="10390650" cy="58857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SQL LOGIC &amp; QUERIES</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1B3C7B9D-7F2F-3998-EF0E-0926797A1ABD}"/>
              </a:ext>
            </a:extLst>
          </p:cNvPr>
          <p:cNvPicPr>
            <a:picLocks noChangeAspect="1"/>
          </p:cNvPicPr>
          <p:nvPr/>
        </p:nvPicPr>
        <p:blipFill>
          <a:blip r:embed="rId2"/>
          <a:stretch>
            <a:fillRect/>
          </a:stretch>
        </p:blipFill>
        <p:spPr>
          <a:xfrm>
            <a:off x="731520" y="2011680"/>
            <a:ext cx="13018450" cy="55702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200400"/>
            <a:ext cx="12801600" cy="1828800"/>
          </a:xfrm>
          <a:prstGeom prst="rect">
            <a:avLst/>
          </a:prstGeom>
          <a:noFill/>
        </p:spPr>
        <p:txBody>
          <a:bodyPr wrap="none">
            <a:spAutoFit/>
          </a:bodyPr>
          <a:lstStyle/>
          <a:p>
            <a:pPr algn="ctr">
              <a:defRPr sz="8000" b="1">
                <a:solidFill>
                  <a:srgbClr val="00FFFF"/>
                </a:solidFill>
              </a:defRPr>
            </a:pPr>
            <a:r>
              <a:t>KPI STRATEGIC EXPLANATION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2189823" cy="1877437"/>
          </a:xfrm>
          <a:prstGeom prst="rect">
            <a:avLst/>
          </a:prstGeom>
          <a:noFill/>
        </p:spPr>
        <p:txBody>
          <a:bodyPr wrap="square">
            <a:spAutoFit/>
          </a:bodyPr>
          <a:lstStyle/>
          <a:p>
            <a:pPr>
              <a:defRPr sz="5800" b="1">
                <a:solidFill>
                  <a:srgbClr val="FFFFFF"/>
                </a:solidFill>
                <a:latin typeface="Arial Black"/>
              </a:defRPr>
            </a:pPr>
            <a:r>
              <a:rPr dirty="0"/>
              <a:t>KPI 1: ATTRITION BY DEPARTMENT</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43200"/>
            <a:ext cx="12435840" cy="4114800"/>
          </a:xfrm>
          <a:prstGeom prst="rect">
            <a:avLst/>
          </a:prstGeom>
          <a:noFill/>
        </p:spPr>
        <p:txBody>
          <a:bodyPr wrap="square">
            <a:spAutoFit/>
          </a:bodyPr>
          <a:lstStyle/>
          <a:p>
            <a:endParaRPr/>
          </a:p>
          <a:p>
            <a:pPr>
              <a:spcAft>
                <a:spcPts val="2000"/>
              </a:spcAft>
              <a:defRPr sz="4000">
                <a:solidFill>
                  <a:srgbClr val="FFFFFF"/>
                </a:solidFill>
                <a:latin typeface="Segoe UI Semilight"/>
              </a:defRPr>
            </a:pPr>
            <a:r>
              <a:t>This metric evaluates employee turnover at a departmental level. Our analysis identifies a uniform attrition rate of approximately 50% across all sectors. This suggests attrition is driven by organization-wide culture or policy rather than isolated departmental management.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2544213" cy="1877437"/>
          </a:xfrm>
          <a:prstGeom prst="rect">
            <a:avLst/>
          </a:prstGeom>
          <a:noFill/>
        </p:spPr>
        <p:txBody>
          <a:bodyPr wrap="square">
            <a:spAutoFit/>
          </a:bodyPr>
          <a:lstStyle/>
          <a:p>
            <a:pPr>
              <a:defRPr sz="5800" b="1">
                <a:solidFill>
                  <a:srgbClr val="FFFFFF"/>
                </a:solidFill>
                <a:latin typeface="Arial Black"/>
              </a:defRPr>
            </a:pPr>
            <a:r>
              <a:rPr dirty="0"/>
              <a:t>KPI 2: MALE RESEARCH SCIENTIST RATES</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43200"/>
            <a:ext cx="12435840" cy="4114800"/>
          </a:xfrm>
          <a:prstGeom prst="rect">
            <a:avLst/>
          </a:prstGeom>
          <a:noFill/>
        </p:spPr>
        <p:txBody>
          <a:bodyPr wrap="square">
            <a:spAutoFit/>
          </a:bodyPr>
          <a:lstStyle/>
          <a:p>
            <a:endParaRPr dirty="0"/>
          </a:p>
          <a:p>
            <a:pPr>
              <a:spcAft>
                <a:spcPts val="2000"/>
              </a:spcAft>
              <a:defRPr sz="4000">
                <a:solidFill>
                  <a:srgbClr val="FFFFFF"/>
                </a:solidFill>
                <a:latin typeface="Segoe UI Semilight"/>
              </a:defRPr>
            </a:pPr>
            <a:r>
              <a:rPr dirty="0"/>
              <a:t>Focused on high-value roles, we found that Male Research Scientists receive a premium hourly rate ($114.45). This indicates high organizational value for the role, though compensation alone is failing to curb the 50% attrition trend seen globally.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2801600" cy="1877437"/>
          </a:xfrm>
          <a:prstGeom prst="rect">
            <a:avLst/>
          </a:prstGeom>
          <a:noFill/>
        </p:spPr>
        <p:txBody>
          <a:bodyPr wrap="square">
            <a:spAutoFit/>
          </a:bodyPr>
          <a:lstStyle/>
          <a:p>
            <a:pPr>
              <a:defRPr sz="5800" b="1">
                <a:solidFill>
                  <a:srgbClr val="FFFFFF"/>
                </a:solidFill>
                <a:latin typeface="Arial Black"/>
              </a:defRPr>
            </a:pPr>
            <a:r>
              <a:rPr dirty="0"/>
              <a:t>KPI 3: INCOME VS ATTRITION CORRELATION</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43200"/>
            <a:ext cx="12435840" cy="4114800"/>
          </a:xfrm>
          <a:prstGeom prst="rect">
            <a:avLst/>
          </a:prstGeom>
          <a:noFill/>
        </p:spPr>
        <p:txBody>
          <a:bodyPr wrap="square">
            <a:spAutoFit/>
          </a:bodyPr>
          <a:lstStyle/>
          <a:p>
            <a:endParaRPr/>
          </a:p>
          <a:p>
            <a:pPr>
              <a:spcAft>
                <a:spcPts val="2000"/>
              </a:spcAft>
              <a:defRPr sz="4000">
                <a:solidFill>
                  <a:srgbClr val="FFFFFF"/>
                </a:solidFill>
                <a:latin typeface="Segoe UI Semilight"/>
              </a:defRPr>
            </a:pPr>
            <a:r>
              <a:t>This KPI tests if higher pay equals higher retention. The data shows attrition remains high even in top income brackets. This critical finding proves that financial incentives are not the root trigger for exits; environmental and growth factors must be addressed.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2578080" cy="1877437"/>
          </a:xfrm>
          <a:prstGeom prst="rect">
            <a:avLst/>
          </a:prstGeom>
          <a:noFill/>
        </p:spPr>
        <p:txBody>
          <a:bodyPr wrap="square">
            <a:spAutoFit/>
          </a:bodyPr>
          <a:lstStyle/>
          <a:p>
            <a:pPr>
              <a:defRPr sz="5800" b="1">
                <a:solidFill>
                  <a:srgbClr val="FFFFFF"/>
                </a:solidFill>
                <a:latin typeface="Arial Black"/>
              </a:defRPr>
            </a:pPr>
            <a:r>
              <a:rPr dirty="0"/>
              <a:t>KPI 4: WORKING YEARS BY DEPARTMENT</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43200"/>
            <a:ext cx="12435840" cy="4114800"/>
          </a:xfrm>
          <a:prstGeom prst="rect">
            <a:avLst/>
          </a:prstGeom>
          <a:noFill/>
        </p:spPr>
        <p:txBody>
          <a:bodyPr wrap="square">
            <a:spAutoFit/>
          </a:bodyPr>
          <a:lstStyle/>
          <a:p>
            <a:endParaRPr/>
          </a:p>
          <a:p>
            <a:pPr>
              <a:spcAft>
                <a:spcPts val="2000"/>
              </a:spcAft>
              <a:defRPr sz="4000">
                <a:solidFill>
                  <a:srgbClr val="FFFFFF"/>
                </a:solidFill>
                <a:latin typeface="Segoe UI Semilight"/>
              </a:defRPr>
            </a:pPr>
            <a:r>
              <a:t>We tracked the average tenure (experience) within divisions. Surprisingly, the workforce is highly seasoned, with an average of 20 working years across the board. The risk is high-loyalty veterans leaving due to stagnation, taking decades of expertise with them.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2713547" cy="1877437"/>
          </a:xfrm>
          <a:prstGeom prst="rect">
            <a:avLst/>
          </a:prstGeom>
          <a:noFill/>
        </p:spPr>
        <p:txBody>
          <a:bodyPr wrap="square">
            <a:spAutoFit/>
          </a:bodyPr>
          <a:lstStyle/>
          <a:p>
            <a:pPr>
              <a:defRPr sz="5800" b="1">
                <a:solidFill>
                  <a:srgbClr val="FFFFFF"/>
                </a:solidFill>
                <a:latin typeface="Arial Black"/>
              </a:defRPr>
            </a:pPr>
            <a:r>
              <a:rPr dirty="0"/>
              <a:t>KPI 5: ROLE-BASED WORK-LIFE BALANCE</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43200"/>
            <a:ext cx="12435840" cy="4114800"/>
          </a:xfrm>
          <a:prstGeom prst="rect">
            <a:avLst/>
          </a:prstGeom>
          <a:noFill/>
        </p:spPr>
        <p:txBody>
          <a:bodyPr wrap="square">
            <a:spAutoFit/>
          </a:bodyPr>
          <a:lstStyle/>
          <a:p>
            <a:endParaRPr/>
          </a:p>
          <a:p>
            <a:pPr>
              <a:spcAft>
                <a:spcPts val="2000"/>
              </a:spcAft>
              <a:defRPr sz="4000">
                <a:solidFill>
                  <a:srgbClr val="FFFFFF"/>
                </a:solidFill>
                <a:latin typeface="Segoe UI Semilight"/>
              </a:defRPr>
            </a:pPr>
            <a:r>
              <a:t>Comparing 'Job Role' vs 'Balance Rating' (1-4). Sales Executive roles report the lowest satisfaction scores. High-stress roles require immediate wellness and flexibility interventions to prevent burnout-driven turnover.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713823" cy="1877437"/>
          </a:xfrm>
          <a:prstGeom prst="rect">
            <a:avLst/>
          </a:prstGeom>
          <a:noFill/>
        </p:spPr>
        <p:txBody>
          <a:bodyPr wrap="square">
            <a:spAutoFit/>
          </a:bodyPr>
          <a:lstStyle/>
          <a:p>
            <a:pPr>
              <a:defRPr sz="5800" b="1">
                <a:solidFill>
                  <a:srgbClr val="FFFFFF"/>
                </a:solidFill>
                <a:latin typeface="Arial Black"/>
              </a:defRPr>
            </a:pPr>
            <a:r>
              <a:rPr dirty="0"/>
              <a:t>KPI 6: </a:t>
            </a:r>
            <a:r>
              <a:rPr sz="5000" dirty="0"/>
              <a:t>PROMOTION-RETENTION</a:t>
            </a:r>
            <a:endParaRPr lang="en-US" sz="5000" dirty="0"/>
          </a:p>
          <a:p>
            <a:pPr>
              <a:defRPr sz="5800" b="1">
                <a:solidFill>
                  <a:srgbClr val="FFFFFF"/>
                </a:solidFill>
                <a:latin typeface="Arial Black"/>
              </a:defRPr>
            </a:pPr>
            <a:r>
              <a:rPr lang="en-US" dirty="0"/>
              <a:t> </a:t>
            </a:r>
            <a:r>
              <a:rPr sz="5000" dirty="0"/>
              <a:t>RELATION</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43200"/>
            <a:ext cx="12435840" cy="4114800"/>
          </a:xfrm>
          <a:prstGeom prst="rect">
            <a:avLst/>
          </a:prstGeom>
          <a:noFill/>
        </p:spPr>
        <p:txBody>
          <a:bodyPr wrap="square">
            <a:spAutoFit/>
          </a:bodyPr>
          <a:lstStyle/>
          <a:p>
            <a:endParaRPr/>
          </a:p>
          <a:p>
            <a:pPr>
              <a:spcAft>
                <a:spcPts val="2000"/>
              </a:spcAft>
              <a:defRPr sz="4000">
                <a:solidFill>
                  <a:srgbClr val="FFFFFF"/>
                </a:solidFill>
                <a:latin typeface="Segoe UI Semilight"/>
              </a:defRPr>
            </a:pPr>
            <a:r>
              <a:t>This is the project's most vital insight. Attrition risk spikes sharply for employees who have not been promoted for 20+ years. Long-term loyalty without growth pathways is the single biggest predictor of turnover for senior staff.</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RECOMMENDATIONS</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96241"/>
            <a:ext cx="8621486" cy="6576159"/>
          </a:xfrm>
          <a:prstGeom prst="rect">
            <a:avLst/>
          </a:prstGeom>
          <a:noFill/>
        </p:spPr>
        <p:txBody>
          <a:bodyPr wrap="square">
            <a:spAutoFit/>
          </a:bodyPr>
          <a:lstStyle/>
          <a:p>
            <a:endParaRPr dirty="0"/>
          </a:p>
          <a:p>
            <a:pPr>
              <a:spcBef>
                <a:spcPts val="2000"/>
              </a:spcBef>
              <a:defRPr sz="3200">
                <a:solidFill>
                  <a:srgbClr val="C8CDD7"/>
                </a:solidFill>
                <a:latin typeface="Segoe UI Semilight"/>
              </a:defRPr>
            </a:pPr>
            <a:r>
              <a:rPr dirty="0"/>
              <a:t>➤  </a:t>
            </a:r>
            <a:r>
              <a:rPr lang="en-US" dirty="0"/>
              <a:t>Implement mid-career promotion pathways for employees with 15+ years tenure.</a:t>
            </a:r>
          </a:p>
          <a:p>
            <a:pPr>
              <a:spcBef>
                <a:spcPts val="2000"/>
              </a:spcBef>
              <a:defRPr sz="3200">
                <a:solidFill>
                  <a:srgbClr val="C8CDD7"/>
                </a:solidFill>
                <a:latin typeface="Segoe UI Semilight"/>
              </a:defRPr>
            </a:pPr>
            <a:r>
              <a:rPr dirty="0"/>
              <a:t>➤</a:t>
            </a:r>
            <a:r>
              <a:rPr lang="en-US" dirty="0"/>
              <a:t> Focus wellness programs on Sales roles to improve Work-Life balance.</a:t>
            </a:r>
            <a:endParaRPr dirty="0"/>
          </a:p>
          <a:p>
            <a:pPr>
              <a:spcBef>
                <a:spcPts val="2000"/>
              </a:spcBef>
              <a:defRPr sz="3200">
                <a:solidFill>
                  <a:srgbClr val="C8CDD7"/>
                </a:solidFill>
                <a:latin typeface="Segoe UI Semilight"/>
              </a:defRPr>
            </a:pPr>
            <a:r>
              <a:rPr dirty="0"/>
              <a:t>➤  </a:t>
            </a:r>
            <a:r>
              <a:rPr lang="en-US" dirty="0"/>
              <a:t>Investigate the ~50% attrition benchmark to find root organizational causes.</a:t>
            </a:r>
          </a:p>
          <a:p>
            <a:pPr>
              <a:spcBef>
                <a:spcPts val="2000"/>
              </a:spcBef>
              <a:defRPr sz="3200">
                <a:solidFill>
                  <a:srgbClr val="C8CDD7"/>
                </a:solidFill>
                <a:latin typeface="Segoe UI Semilight"/>
              </a:defRPr>
            </a:pPr>
            <a:r>
              <a:rPr dirty="0"/>
              <a:t>➤  </a:t>
            </a:r>
            <a:r>
              <a:rPr lang="en-US" dirty="0"/>
              <a:t>Use high income as a baseline, but focus on cultural/growth incentives.</a:t>
            </a:r>
          </a:p>
          <a:p>
            <a:pPr>
              <a:spcBef>
                <a:spcPts val="2000"/>
              </a:spcBef>
              <a:defRPr sz="3200">
                <a:solidFill>
                  <a:srgbClr val="C8CDD7"/>
                </a:solidFill>
                <a:latin typeface="Segoe UI Semilight"/>
              </a:defRPr>
            </a:pPr>
            <a:r>
              <a:rPr dirty="0"/>
              <a:t>➤</a:t>
            </a:r>
            <a:r>
              <a:rPr lang="en-US" dirty="0"/>
              <a:t> Monitor promotion cycles more closely to prevent stagnation-driven exits.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3167360" cy="1097280"/>
          </a:xfrm>
          <a:prstGeom prst="rect">
            <a:avLst/>
          </a:prstGeom>
          <a:noFill/>
        </p:spPr>
        <p:txBody>
          <a:bodyPr wrap="none">
            <a:spAutoFit/>
          </a:bodyPr>
          <a:lstStyle/>
          <a:p>
            <a:pPr>
              <a:defRPr sz="5800" b="1">
                <a:solidFill>
                  <a:srgbClr val="FFFFFF"/>
                </a:solidFill>
                <a:latin typeface="Arial Black"/>
              </a:defRPr>
            </a:pPr>
            <a:r>
              <a:t>CONCLUSION</a:t>
            </a:r>
          </a:p>
        </p:txBody>
      </p:sp>
      <p:sp>
        <p:nvSpPr>
          <p:cNvPr id="4" name="Rectangle 3"/>
          <p:cNvSpPr/>
          <p:nvPr/>
        </p:nvSpPr>
        <p:spPr>
          <a:xfrm>
            <a:off x="731520" y="1463040"/>
            <a:ext cx="2743200" cy="54864"/>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45164"/>
            <a:ext cx="12420600" cy="5827236"/>
          </a:xfrm>
          <a:prstGeom prst="rect">
            <a:avLst/>
          </a:prstGeom>
          <a:noFill/>
        </p:spPr>
        <p:txBody>
          <a:bodyPr wrap="square">
            <a:spAutoFit/>
          </a:bodyPr>
          <a:lstStyle/>
          <a:p>
            <a:endParaRPr dirty="0"/>
          </a:p>
          <a:p>
            <a:pPr>
              <a:spcBef>
                <a:spcPts val="1200"/>
              </a:spcBef>
              <a:defRPr sz="3200">
                <a:solidFill>
                  <a:srgbClr val="FFFFFF"/>
                </a:solidFill>
              </a:defRPr>
            </a:pPr>
            <a:r>
              <a:rPr dirty="0"/>
              <a:t>➤</a:t>
            </a:r>
            <a:r>
              <a:rPr lang="en-IN" dirty="0"/>
              <a:t> SQL and BI analysis revealed critical attrition hotspots</a:t>
            </a:r>
          </a:p>
          <a:p>
            <a:pPr>
              <a:spcBef>
                <a:spcPts val="1200"/>
              </a:spcBef>
              <a:defRPr sz="3200">
                <a:solidFill>
                  <a:srgbClr val="FFFFFF"/>
                </a:solidFill>
              </a:defRPr>
            </a:pPr>
            <a:r>
              <a:rPr lang="en-IN" dirty="0"/>
              <a:t>➤  Stagnant promotions are the biggest single predictor of exit for long-term staff</a:t>
            </a:r>
          </a:p>
          <a:p>
            <a:pPr>
              <a:spcBef>
                <a:spcPts val="1200"/>
              </a:spcBef>
              <a:defRPr sz="3200">
                <a:solidFill>
                  <a:srgbClr val="FFFFFF"/>
                </a:solidFill>
              </a:defRPr>
            </a:pPr>
            <a:r>
              <a:rPr lang="en-IN" dirty="0"/>
              <a:t>➤ Departmental tenure is high, showing a strong potential for internal mentorship</a:t>
            </a:r>
          </a:p>
          <a:p>
            <a:pPr>
              <a:spcBef>
                <a:spcPts val="1200"/>
              </a:spcBef>
              <a:defRPr sz="3200">
                <a:solidFill>
                  <a:srgbClr val="FFFFFF"/>
                </a:solidFill>
              </a:defRPr>
            </a:pPr>
            <a:r>
              <a:rPr lang="en-IN" dirty="0"/>
              <a:t>➤ A multi-tooled approach (Excel/SQL/Tableau) ensures data accuracy and clarity</a:t>
            </a:r>
          </a:p>
          <a:p>
            <a:pPr>
              <a:spcBef>
                <a:spcPts val="1200"/>
              </a:spcBef>
              <a:defRPr sz="3200">
                <a:solidFill>
                  <a:srgbClr val="FFFFFF"/>
                </a:solidFill>
              </a:defRPr>
            </a:pPr>
            <a:r>
              <a:rPr lang="en-IN" dirty="0"/>
              <a:t>➤ Insights support a more personalized retention strategy for HR teams</a:t>
            </a:r>
          </a:p>
          <a:p>
            <a:pPr>
              <a:spcBef>
                <a:spcPts val="2000"/>
              </a:spcBef>
              <a:defRPr sz="3200">
                <a:solidFill>
                  <a:srgbClr val="C8CDD7"/>
                </a:solidFill>
                <a:latin typeface="Segoe UI Semilight"/>
              </a:defRPr>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Rectangle 1"/>
          <p:cNvSpPr/>
          <p:nvPr/>
        </p:nvSpPr>
        <p:spPr>
          <a:xfrm>
            <a:off x="0" y="8092440"/>
            <a:ext cx="14630400" cy="137160"/>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200400"/>
            <a:ext cx="12801600" cy="1828800"/>
          </a:xfrm>
          <a:prstGeom prst="rect">
            <a:avLst/>
          </a:prstGeom>
          <a:noFill/>
        </p:spPr>
        <p:txBody>
          <a:bodyPr wrap="none">
            <a:spAutoFit/>
          </a:bodyPr>
          <a:lstStyle/>
          <a:p>
            <a:pPr algn="ctr">
              <a:defRPr sz="14000" b="1">
                <a:solidFill>
                  <a:srgbClr val="00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757</Words>
  <Application>Microsoft Office PowerPoint</Application>
  <PresentationFormat>Custom</PresentationFormat>
  <Paragraphs>94</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GUPTHA PRAGALLAPATI</dc:creator>
  <cp:keywords/>
  <dc:description>generated using python-pptx</dc:description>
  <cp:lastModifiedBy>GUPTHA PRAGALLAPATI</cp:lastModifiedBy>
  <cp:revision>3</cp:revision>
  <dcterms:created xsi:type="dcterms:W3CDTF">2013-01-27T09:14:16Z</dcterms:created>
  <dcterms:modified xsi:type="dcterms:W3CDTF">2026-04-21T07:43:22Z</dcterms:modified>
  <cp:category/>
</cp:coreProperties>
</file>